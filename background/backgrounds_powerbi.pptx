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84960" autoAdjust="0"/>
  </p:normalViewPr>
  <p:slideViewPr>
    <p:cSldViewPr snapToGrid="0" snapToObjects="1">
      <p:cViewPr varScale="1">
        <p:scale>
          <a:sx n="102" d="100"/>
          <a:sy n="102" d="100"/>
        </p:scale>
        <p:origin x="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gradFill rotWithShape="1">
            <a:gsLst>
              <a:gs pos="0">
                <a:srgbClr val="0A1526"/>
              </a:gs>
              <a:gs pos="100000">
                <a:srgbClr val="0E2136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96248" y="-1079473"/>
            <a:ext cx="761981" cy="76198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554" y="-1346166"/>
            <a:ext cx="1295368" cy="129536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62861" y="-1612860"/>
            <a:ext cx="1828754" cy="182875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96168" y="-1879553"/>
            <a:ext cx="2362141" cy="236214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29474" y="-2146246"/>
            <a:ext cx="2895528" cy="289552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62781" y="-2412940"/>
            <a:ext cx="3428914" cy="342891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96088" y="-2679633"/>
            <a:ext cx="3962301" cy="396230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394" y="-2946326"/>
            <a:ext cx="4495688" cy="449568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62701" y="-3213020"/>
            <a:ext cx="5029074" cy="502907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8594" y="177796"/>
            <a:ext cx="11734507" cy="774681"/>
          </a:xfrm>
          <a:prstGeom prst="roundRect">
            <a:avLst>
              <a:gd name="adj" fmla="val 13114"/>
            </a:avLst>
          </a:prstGeom>
          <a:solidFill>
            <a:srgbClr val="172D46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594" y="177796"/>
            <a:ext cx="63498" cy="77468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288" y="216530"/>
            <a:ext cx="9143771" cy="506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spc="40">
                <a:solidFill>
                  <a:srgbClr val="EEF3F9"/>
                </a:solidFill>
                <a:latin typeface="Segoe UI"/>
              </a:rPr>
              <a:t>DÉVELOPPEMENT HUMAIN EN AFRIQUE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8" y="690509"/>
            <a:ext cx="60323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Segoe UI"/>
              </a:rPr>
              <a:t>Vue </a:t>
            </a:r>
            <a:r>
              <a:rPr lang="fr-FR" sz="1000" b="0" i="0" dirty="0">
                <a:solidFill>
                  <a:schemeClr val="bg1"/>
                </a:solidFill>
                <a:latin typeface="Segoe UI"/>
              </a:rPr>
              <a:t>d'ensemble, </a:t>
            </a:r>
            <a:r>
              <a:rPr sz="1000" b="0" i="0" dirty="0" err="1">
                <a:solidFill>
                  <a:schemeClr val="bg1"/>
                </a:solidFill>
                <a:latin typeface="Segoe UI"/>
              </a:rPr>
              <a:t>Indicateurs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chemeClr val="bg1"/>
                </a:solidFill>
                <a:latin typeface="Segoe UI"/>
              </a:rPr>
              <a:t>clés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2000</a:t>
            </a:r>
            <a:r>
              <a:rPr lang="fr-FR" sz="1000" b="0" i="0" dirty="0">
                <a:solidFill>
                  <a:schemeClr val="bg1"/>
                </a:solidFill>
                <a:latin typeface="Segoe UI"/>
              </a:rPr>
              <a:t>-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2023</a:t>
            </a:r>
            <a:r>
              <a:rPr lang="fr-FR" sz="1000" b="0" i="0" dirty="0">
                <a:solidFill>
                  <a:schemeClr val="bg1"/>
                </a:solidFill>
                <a:latin typeface="Segoe UI"/>
              </a:rPr>
              <a:t>.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Source : World Development Indicators (Banque Mondiale)</a:t>
            </a:r>
          </a:p>
        </p:txBody>
      </p:sp>
      <p:sp>
        <p:nvSpPr>
          <p:cNvPr id="20" name="Oval 19"/>
          <p:cNvSpPr/>
          <p:nvPr/>
        </p:nvSpPr>
        <p:spPr>
          <a:xfrm>
            <a:off x="11632909" y="253994"/>
            <a:ext cx="228594" cy="228594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94810" y="271773"/>
            <a:ext cx="304792" cy="193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0E1C2E"/>
                </a:solidFill>
                <a:latin typeface="Segoe UI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594" y="1092173"/>
            <a:ext cx="1904952" cy="5537062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unnel 22"/>
          <p:cNvSpPr/>
          <p:nvPr/>
        </p:nvSpPr>
        <p:spPr>
          <a:xfrm>
            <a:off x="342891" y="1257269"/>
            <a:ext cx="152396" cy="139697"/>
          </a:xfrm>
          <a:prstGeom prst="funnel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786" y="1206787"/>
            <a:ext cx="1269968" cy="253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EEF3F9"/>
                </a:solidFill>
                <a:latin typeface="Segoe UI"/>
              </a:rPr>
              <a:t>FILTRES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8291" y="1498563"/>
            <a:ext cx="1625559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8291" y="166365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288" y="1645208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ANNÉE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8291" y="182875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8291" y="287012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288" y="285167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SOUS-RÉGION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8291" y="303522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8291" y="407659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288" y="405814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GROUPE DE REVENU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8291" y="424169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8291" y="528306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288" y="526461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PAYS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68291" y="544816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285943" y="1066773"/>
            <a:ext cx="1828754" cy="952476"/>
          </a:xfrm>
          <a:prstGeom prst="roundRect">
            <a:avLst>
              <a:gd name="adj" fmla="val 9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285943" y="1066773"/>
            <a:ext cx="1828754" cy="3174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55831" y="1302316"/>
            <a:ext cx="125726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40" dirty="0">
                <a:solidFill>
                  <a:schemeClr val="bg1"/>
                </a:solidFill>
                <a:latin typeface="Segoe UI"/>
              </a:rPr>
              <a:t>ESPÉRANCE DE VIE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48044" y="1066773"/>
            <a:ext cx="1828754" cy="952476"/>
          </a:xfrm>
          <a:prstGeom prst="roundRect">
            <a:avLst>
              <a:gd name="adj" fmla="val 9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48044" y="1066773"/>
            <a:ext cx="1828754" cy="3174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17932" y="1302316"/>
            <a:ext cx="125726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40" dirty="0">
                <a:solidFill>
                  <a:schemeClr val="bg1"/>
                </a:solidFill>
                <a:latin typeface="Segoe UI"/>
              </a:rPr>
              <a:t>MORTALITÉ -</a:t>
            </a:r>
            <a:r>
              <a:rPr lang="fr-FR" sz="900" b="1" i="0" spc="40" dirty="0">
                <a:solidFill>
                  <a:schemeClr val="bg1"/>
                </a:solidFill>
                <a:latin typeface="Segoe UI"/>
              </a:rPr>
              <a:t> </a:t>
            </a:r>
            <a:r>
              <a:rPr sz="900" b="1" i="0" spc="40" dirty="0">
                <a:solidFill>
                  <a:schemeClr val="bg1"/>
                </a:solidFill>
                <a:latin typeface="Segoe UI"/>
              </a:rPr>
              <a:t>5 ANS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5" y="1066773"/>
            <a:ext cx="1828754" cy="952476"/>
          </a:xfrm>
          <a:prstGeom prst="roundRect">
            <a:avLst>
              <a:gd name="adj" fmla="val 9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210145" y="1066773"/>
            <a:ext cx="1828754" cy="3174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80033" y="1302315"/>
            <a:ext cx="125726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40" dirty="0">
                <a:solidFill>
                  <a:schemeClr val="bg1"/>
                </a:solidFill>
                <a:latin typeface="Segoe UI"/>
              </a:rPr>
              <a:t>ACCÈS ÉLECTRICITÉ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72246" y="1066773"/>
            <a:ext cx="1828754" cy="952476"/>
          </a:xfrm>
          <a:prstGeom prst="roundRect">
            <a:avLst>
              <a:gd name="adj" fmla="val 9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72246" y="1066773"/>
            <a:ext cx="1828754" cy="3174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Isosceles Triangle 58"/>
          <p:cNvSpPr/>
          <p:nvPr/>
        </p:nvSpPr>
        <p:spPr>
          <a:xfrm>
            <a:off x="8375441" y="1301717"/>
            <a:ext cx="101597" cy="114297"/>
          </a:xfrm>
          <a:prstGeom prst="triangle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42134" y="1302315"/>
            <a:ext cx="125726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40" dirty="0">
                <a:solidFill>
                  <a:schemeClr val="bg1"/>
                </a:solidFill>
                <a:latin typeface="Segoe UI"/>
              </a:rPr>
              <a:t>ACCÈS À L'EAU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34347" y="1066773"/>
            <a:ext cx="1828754" cy="952476"/>
          </a:xfrm>
          <a:prstGeom prst="roundRect">
            <a:avLst>
              <a:gd name="adj" fmla="val 9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134347" y="1066773"/>
            <a:ext cx="1828754" cy="3174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604235" y="1302315"/>
            <a:ext cx="125726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40" dirty="0">
                <a:solidFill>
                  <a:schemeClr val="bg1"/>
                </a:solidFill>
                <a:latin typeface="Segoe UI"/>
              </a:rPr>
              <a:t>PIB PAR HABITANT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85943" y="2171646"/>
            <a:ext cx="4698883" cy="4457589"/>
          </a:xfrm>
          <a:prstGeom prst="roundRect">
            <a:avLst>
              <a:gd name="adj" fmla="val 2279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285943" y="2171646"/>
            <a:ext cx="38099" cy="445758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425639" y="2324042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78036" y="2234827"/>
            <a:ext cx="4267093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 dirty="0">
                <a:solidFill>
                  <a:srgbClr val="EEF3F9"/>
                </a:solidFill>
                <a:latin typeface="Segoe UI"/>
              </a:rPr>
              <a:t>RÉPARTITION EN AFRIQUE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425639" y="2501837"/>
            <a:ext cx="4419490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137222" y="2171646"/>
            <a:ext cx="4825879" cy="2209745"/>
          </a:xfrm>
          <a:prstGeom prst="roundRect">
            <a:avLst>
              <a:gd name="adj" fmla="val 4597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137222" y="2171646"/>
            <a:ext cx="38099" cy="2209745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276918" y="2324042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429314" y="2234827"/>
            <a:ext cx="4394090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TENDANCE 2000 – 2023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276918" y="2501837"/>
            <a:ext cx="4546486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137222" y="4533787"/>
            <a:ext cx="4825879" cy="2095448"/>
          </a:xfrm>
          <a:prstGeom prst="roundRect">
            <a:avLst>
              <a:gd name="adj" fmla="val 4848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137222" y="4533787"/>
            <a:ext cx="38099" cy="2095448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7276918" y="46861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29314" y="4596968"/>
            <a:ext cx="4394090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COMPARAISON PAR SOUS-RÉGION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276918" y="4863978"/>
            <a:ext cx="4546486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gradFill rotWithShape="1">
            <a:gsLst>
              <a:gs pos="0">
                <a:srgbClr val="0A1526"/>
              </a:gs>
              <a:gs pos="100000">
                <a:srgbClr val="0E2136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96248" y="-1079473"/>
            <a:ext cx="761981" cy="76198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554" y="-1346166"/>
            <a:ext cx="1295368" cy="129536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62861" y="-1612860"/>
            <a:ext cx="1828754" cy="182875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96168" y="-1879553"/>
            <a:ext cx="2362141" cy="236214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29474" y="-2146246"/>
            <a:ext cx="2895528" cy="289552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62781" y="-2412940"/>
            <a:ext cx="3428914" cy="342891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96088" y="-2679633"/>
            <a:ext cx="3962301" cy="396230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394" y="-2946326"/>
            <a:ext cx="4495688" cy="449568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62701" y="-3213020"/>
            <a:ext cx="5029074" cy="502907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8594" y="177796"/>
            <a:ext cx="11734507" cy="774681"/>
          </a:xfrm>
          <a:prstGeom prst="roundRect">
            <a:avLst>
              <a:gd name="adj" fmla="val 13114"/>
            </a:avLst>
          </a:prstGeom>
          <a:solidFill>
            <a:srgbClr val="172D46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594" y="177796"/>
            <a:ext cx="63498" cy="77468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288" y="216530"/>
            <a:ext cx="9143771" cy="506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spc="40">
                <a:solidFill>
                  <a:srgbClr val="EEF3F9"/>
                </a:solidFill>
                <a:latin typeface="Segoe UI"/>
              </a:rPr>
              <a:t>COMPARAISON ENTRE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7" y="672337"/>
            <a:ext cx="888977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i="0" dirty="0" err="1">
                <a:solidFill>
                  <a:schemeClr val="bg1"/>
                </a:solidFill>
                <a:latin typeface="Segoe UI"/>
              </a:rPr>
              <a:t>Classements</a:t>
            </a:r>
            <a:r>
              <a:rPr sz="1000" i="0" dirty="0">
                <a:solidFill>
                  <a:schemeClr val="bg1"/>
                </a:solidFill>
                <a:latin typeface="Segoe UI"/>
              </a:rPr>
              <a:t> &amp; </a:t>
            </a:r>
            <a:r>
              <a:rPr sz="1000" i="0" dirty="0" err="1">
                <a:solidFill>
                  <a:schemeClr val="bg1"/>
                </a:solidFill>
                <a:latin typeface="Segoe UI"/>
              </a:rPr>
              <a:t>corrélations</a:t>
            </a:r>
            <a:r>
              <a:rPr lang="fr-FR" sz="1000" i="0" dirty="0">
                <a:solidFill>
                  <a:schemeClr val="bg1"/>
                </a:solidFill>
                <a:latin typeface="Segoe UI"/>
              </a:rPr>
              <a:t>, </a:t>
            </a:r>
            <a:r>
              <a:rPr sz="1000" i="0" dirty="0">
                <a:solidFill>
                  <a:schemeClr val="bg1"/>
                </a:solidFill>
                <a:latin typeface="Segoe UI"/>
              </a:rPr>
              <a:t>54 pays </a:t>
            </a:r>
            <a:r>
              <a:rPr sz="1000" i="0" dirty="0" err="1">
                <a:solidFill>
                  <a:schemeClr val="bg1"/>
                </a:solidFill>
                <a:latin typeface="Segoe UI"/>
              </a:rPr>
              <a:t>africains</a:t>
            </a:r>
            <a:r>
              <a:rPr lang="fr-FR" sz="1000" dirty="0">
                <a:solidFill>
                  <a:schemeClr val="bg1"/>
                </a:solidFill>
                <a:latin typeface="Segoe UI"/>
              </a:rPr>
              <a:t>,</a:t>
            </a:r>
            <a:r>
              <a:rPr sz="1000" i="0" dirty="0">
                <a:solidFill>
                  <a:schemeClr val="bg1"/>
                </a:solidFill>
                <a:latin typeface="Segoe UI"/>
              </a:rPr>
              <a:t> 2000</a:t>
            </a:r>
            <a:r>
              <a:rPr lang="fr-FR" sz="1000" i="0" dirty="0">
                <a:solidFill>
                  <a:schemeClr val="bg1"/>
                </a:solidFill>
                <a:latin typeface="Segoe UI"/>
              </a:rPr>
              <a:t>-</a:t>
            </a:r>
            <a:r>
              <a:rPr sz="1000" i="0" dirty="0">
                <a:solidFill>
                  <a:schemeClr val="bg1"/>
                </a:solidFill>
                <a:latin typeface="Segoe UI"/>
              </a:rPr>
              <a:t>2023</a:t>
            </a:r>
          </a:p>
        </p:txBody>
      </p:sp>
      <p:sp>
        <p:nvSpPr>
          <p:cNvPr id="20" name="Oval 19"/>
          <p:cNvSpPr/>
          <p:nvPr/>
        </p:nvSpPr>
        <p:spPr>
          <a:xfrm>
            <a:off x="11632909" y="253994"/>
            <a:ext cx="228594" cy="228594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94810" y="271773"/>
            <a:ext cx="304792" cy="193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0E1C2E"/>
                </a:solidFill>
                <a:latin typeface="Segoe U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594" y="1092173"/>
            <a:ext cx="1904952" cy="5537062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unnel 22"/>
          <p:cNvSpPr/>
          <p:nvPr/>
        </p:nvSpPr>
        <p:spPr>
          <a:xfrm>
            <a:off x="342891" y="1257269"/>
            <a:ext cx="152396" cy="139697"/>
          </a:xfrm>
          <a:prstGeom prst="funnel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786" y="1206787"/>
            <a:ext cx="1269968" cy="253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EEF3F9"/>
                </a:solidFill>
                <a:latin typeface="Segoe UI"/>
              </a:rPr>
              <a:t>FILTRES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8291" y="1498563"/>
            <a:ext cx="1625559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8291" y="166365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288" y="1648514"/>
            <a:ext cx="1003275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ANNÉE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8291" y="182875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8291" y="287012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288" y="285167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SOUS-RÉGION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8291" y="303522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8291" y="407659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288" y="405814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GROUPE DE REVENU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8291" y="424169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8291" y="528306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288" y="526461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PAYS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68291" y="544816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285943" y="1066773"/>
            <a:ext cx="4698883" cy="5562461"/>
          </a:xfrm>
          <a:prstGeom prst="roundRect">
            <a:avLst>
              <a:gd name="adj" fmla="val 2162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285943" y="1066773"/>
            <a:ext cx="38099" cy="556246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425639" y="1219170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78036" y="1129954"/>
            <a:ext cx="4267093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CLASSEMENT DES PAYS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425639" y="1396965"/>
            <a:ext cx="4419490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37222" y="1066773"/>
            <a:ext cx="4825879" cy="2971726"/>
          </a:xfrm>
          <a:prstGeom prst="roundRect">
            <a:avLst>
              <a:gd name="adj" fmla="val 3418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137222" y="1066773"/>
            <a:ext cx="38099" cy="2971726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276918" y="1219170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29314" y="1129954"/>
            <a:ext cx="4394090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PIB/HAB  ×  ESPÉRANCE DE VIE   (taille = population)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76918" y="1396965"/>
            <a:ext cx="4546486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37222" y="4190895"/>
            <a:ext cx="4825879" cy="2438339"/>
          </a:xfrm>
          <a:prstGeom prst="roundRect">
            <a:avLst>
              <a:gd name="adj" fmla="val 4166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137222" y="4190895"/>
            <a:ext cx="38099" cy="2438339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76918" y="4343291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9314" y="4254076"/>
            <a:ext cx="4394090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SANTÉ · ÉDUCATION · NIVEAU DE VIE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76918" y="4521087"/>
            <a:ext cx="4546486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gradFill rotWithShape="1">
            <a:gsLst>
              <a:gs pos="0">
                <a:srgbClr val="0A1526"/>
              </a:gs>
              <a:gs pos="100000">
                <a:srgbClr val="0E2136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96248" y="-1079473"/>
            <a:ext cx="761981" cy="76198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554" y="-1346166"/>
            <a:ext cx="1295368" cy="129536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62861" y="-1612860"/>
            <a:ext cx="1828754" cy="182875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96168" y="-1879553"/>
            <a:ext cx="2362141" cy="236214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29474" y="-2146246"/>
            <a:ext cx="2895528" cy="289552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62781" y="-2412940"/>
            <a:ext cx="3428914" cy="342891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96088" y="-2679633"/>
            <a:ext cx="3962301" cy="3962301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394" y="-2946326"/>
            <a:ext cx="4495688" cy="4495688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62701" y="-3213020"/>
            <a:ext cx="5029074" cy="5029074"/>
          </a:xfrm>
          <a:prstGeom prst="ellipse">
            <a:avLst/>
          </a:prstGeom>
          <a:noFill/>
          <a:ln w="6350">
            <a:solidFill>
              <a:srgbClr val="22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8594" y="177796"/>
            <a:ext cx="11734507" cy="774681"/>
          </a:xfrm>
          <a:prstGeom prst="roundRect">
            <a:avLst>
              <a:gd name="adj" fmla="val 13114"/>
            </a:avLst>
          </a:prstGeom>
          <a:solidFill>
            <a:srgbClr val="172D46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594" y="177796"/>
            <a:ext cx="63498" cy="77468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288" y="216530"/>
            <a:ext cx="9143771" cy="506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spc="40">
                <a:solidFill>
                  <a:srgbClr val="EEF3F9"/>
                </a:solidFill>
                <a:latin typeface="Segoe UI"/>
              </a:rPr>
              <a:t>TENDANCES &amp;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7" y="672337"/>
            <a:ext cx="888977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 err="1">
                <a:solidFill>
                  <a:schemeClr val="bg1"/>
                </a:solidFill>
                <a:latin typeface="Segoe UI"/>
              </a:rPr>
              <a:t>Évolution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des </a:t>
            </a:r>
            <a:r>
              <a:rPr sz="1000" b="0" i="0" dirty="0" err="1">
                <a:solidFill>
                  <a:schemeClr val="bg1"/>
                </a:solidFill>
                <a:latin typeface="Segoe UI"/>
              </a:rPr>
              <a:t>indicateurs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&amp; </a:t>
            </a:r>
            <a:r>
              <a:rPr sz="1000" b="0" i="0" dirty="0" err="1">
                <a:solidFill>
                  <a:schemeClr val="bg1"/>
                </a:solidFill>
                <a:latin typeface="Segoe UI"/>
              </a:rPr>
              <a:t>enseignements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chemeClr val="bg1"/>
                </a:solidFill>
                <a:latin typeface="Segoe UI"/>
              </a:rPr>
              <a:t>clés</a:t>
            </a:r>
            <a:r>
              <a:rPr lang="fr-FR" sz="1000" dirty="0">
                <a:solidFill>
                  <a:schemeClr val="bg1"/>
                </a:solidFill>
                <a:latin typeface="Segoe UI"/>
              </a:rPr>
              <a:t>,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 2000</a:t>
            </a:r>
            <a:r>
              <a:rPr lang="fr-FR" sz="1000" b="0" i="0" dirty="0">
                <a:solidFill>
                  <a:schemeClr val="bg1"/>
                </a:solidFill>
                <a:latin typeface="Segoe UI"/>
              </a:rPr>
              <a:t>-</a:t>
            </a:r>
            <a:r>
              <a:rPr sz="1000" b="0" i="0" dirty="0">
                <a:solidFill>
                  <a:schemeClr val="bg1"/>
                </a:solidFill>
                <a:latin typeface="Segoe UI"/>
              </a:rPr>
              <a:t>2023</a:t>
            </a:r>
          </a:p>
        </p:txBody>
      </p:sp>
      <p:sp>
        <p:nvSpPr>
          <p:cNvPr id="20" name="Oval 19"/>
          <p:cNvSpPr/>
          <p:nvPr/>
        </p:nvSpPr>
        <p:spPr>
          <a:xfrm>
            <a:off x="11632909" y="253994"/>
            <a:ext cx="228594" cy="228594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94810" y="271773"/>
            <a:ext cx="304792" cy="193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0E1C2E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594" y="1092173"/>
            <a:ext cx="1904952" cy="5537062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unnel 22"/>
          <p:cNvSpPr/>
          <p:nvPr/>
        </p:nvSpPr>
        <p:spPr>
          <a:xfrm>
            <a:off x="342891" y="1257269"/>
            <a:ext cx="152396" cy="139697"/>
          </a:xfrm>
          <a:prstGeom prst="funnel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786" y="1206787"/>
            <a:ext cx="1269968" cy="253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EEF3F9"/>
                </a:solidFill>
                <a:latin typeface="Segoe UI"/>
              </a:rPr>
              <a:t>FILTRES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8291" y="1498563"/>
            <a:ext cx="1625559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8291" y="166365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288" y="1645208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ANNÉE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8291" y="182875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8291" y="287012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288" y="285167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SOUS-RÉGION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8291" y="303522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8291" y="407659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288" y="405814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GROUPE DE REVENU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8291" y="424169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8291" y="5283068"/>
            <a:ext cx="38099" cy="114297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288" y="5264617"/>
            <a:ext cx="152396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fr-FR" sz="900" b="1" i="0" dirty="0">
                <a:solidFill>
                  <a:schemeClr val="bg1"/>
                </a:solidFill>
                <a:latin typeface="Segoe UI"/>
              </a:rPr>
              <a:t>PAYS</a:t>
            </a:r>
            <a:endParaRPr sz="9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68291" y="5448164"/>
            <a:ext cx="1625559" cy="787380"/>
          </a:xfrm>
          <a:prstGeom prst="roundRect">
            <a:avLst>
              <a:gd name="adj" fmla="val 8064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285943" y="1066773"/>
            <a:ext cx="6349841" cy="5562461"/>
          </a:xfrm>
          <a:prstGeom prst="roundRect">
            <a:avLst>
              <a:gd name="adj" fmla="val 1826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285943" y="1066773"/>
            <a:ext cx="38099" cy="556246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425639" y="1219170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78036" y="1129954"/>
            <a:ext cx="5918052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ÉVOLUTION DES INDICATEURS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425639" y="1396965"/>
            <a:ext cx="6070449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38339" y="1498563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527237" y="1587460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491454" y="1498563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580352" y="1587460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44570" y="1498563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633467" y="1587460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438339" y="4044849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527237" y="4133747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491454" y="4044849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580352" y="4133747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44570" y="4044849"/>
            <a:ext cx="1938818" cy="2431989"/>
          </a:xfrm>
          <a:prstGeom prst="roundRect">
            <a:avLst>
              <a:gd name="adj" fmla="val 3275"/>
            </a:avLst>
          </a:prstGeom>
          <a:solidFill>
            <a:srgbClr val="172D46"/>
          </a:solidFill>
          <a:ln w="635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633467" y="4133747"/>
            <a:ext cx="63498" cy="63498"/>
          </a:xfrm>
          <a:prstGeom prst="roundRect">
            <a:avLst>
              <a:gd name="adj" fmla="val 2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788180" y="1066773"/>
            <a:ext cx="3174921" cy="5562461"/>
          </a:xfrm>
          <a:prstGeom prst="roundRect">
            <a:avLst>
              <a:gd name="adj" fmla="val 3200"/>
            </a:avLst>
          </a:prstGeom>
          <a:solidFill>
            <a:srgbClr val="14283F"/>
          </a:solidFill>
          <a:ln w="12700">
            <a:solidFill>
              <a:srgbClr val="284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788180" y="1066773"/>
            <a:ext cx="38099" cy="5562461"/>
          </a:xfrm>
          <a:prstGeom prst="roundRect">
            <a:avLst>
              <a:gd name="adj" fmla="val 50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927877" y="1219170"/>
            <a:ext cx="76198" cy="76198"/>
          </a:xfrm>
          <a:prstGeom prst="roundRect">
            <a:avLst>
              <a:gd name="adj" fmla="val 25000"/>
            </a:avLst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80273" y="1129954"/>
            <a:ext cx="2743131" cy="229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40">
                <a:solidFill>
                  <a:srgbClr val="EEF3F9"/>
                </a:solidFill>
                <a:latin typeface="Segoe UI"/>
              </a:rPr>
              <a:t>ENSEIGNEMENTS &amp; RECOMMANDATIONS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927877" y="1396965"/>
            <a:ext cx="2895527" cy="0"/>
          </a:xfrm>
          <a:prstGeom prst="bentConnector3">
            <a:avLst/>
          </a:prstGeom>
          <a:ln w="6350">
            <a:solidFill>
              <a:srgbClr val="345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953276" y="1619210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118372" y="1612860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118372" y="1739857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953276" y="2381190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118372" y="2374841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118372" y="2501837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953276" y="3143171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118372" y="3136822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118372" y="3263818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953276" y="3905152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118372" y="3898803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9118372" y="4025799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953276" y="4667133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118372" y="4660783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118372" y="4787780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953276" y="5429114"/>
            <a:ext cx="76198" cy="76198"/>
          </a:xfrm>
          <a:prstGeom prst="ellipse">
            <a:avLst/>
          </a:prstGeom>
          <a:solidFill>
            <a:srgbClr val="E9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118372" y="5422764"/>
            <a:ext cx="2539936" cy="76198"/>
          </a:xfrm>
          <a:prstGeom prst="roundRect">
            <a:avLst>
              <a:gd name="adj" fmla="val 50000"/>
            </a:avLst>
          </a:prstGeom>
          <a:solidFill>
            <a:srgbClr val="1F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9118372" y="5549761"/>
            <a:ext cx="1930352" cy="63498"/>
          </a:xfrm>
          <a:prstGeom prst="roundRect">
            <a:avLst>
              <a:gd name="adj" fmla="val 50000"/>
            </a:avLst>
          </a:prstGeom>
          <a:solidFill>
            <a:srgbClr val="1A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4007</TotalTime>
  <Words>126</Words>
  <Application>Microsoft Office PowerPoint</Application>
  <PresentationFormat>Grand écran</PresentationFormat>
  <Paragraphs>37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Backgrounds Power BI (editable) - Developpement humain en Afrique</dc:title>
  <dc:subject/>
  <dc:creator>AnalystLab Africa</dc:creator>
  <cp:keywords/>
  <dc:description>generated using python-pptx</dc:description>
  <cp:lastModifiedBy>Mr Brain</cp:lastModifiedBy>
  <cp:revision>8</cp:revision>
  <dcterms:created xsi:type="dcterms:W3CDTF">2013-01-27T09:14:16Z</dcterms:created>
  <dcterms:modified xsi:type="dcterms:W3CDTF">2026-08-20T14:45:35Z</dcterms:modified>
  <cp:category/>
</cp:coreProperties>
</file>